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Roboto Serif"/>
      <p:regular r:id="rId25"/>
      <p:bold r:id="rId26"/>
      <p:italic r:id="rId27"/>
      <p:boldItalic r:id="rId28"/>
    </p:embeddedFont>
    <p:embeddedFont>
      <p:font typeface="Roboto Mono SemiBold"/>
      <p:regular r:id="rId29"/>
      <p:bold r:id="rId30"/>
      <p:italic r:id="rId31"/>
      <p:boldItalic r:id="rId32"/>
    </p:embeddedFont>
    <p:embeddedFont>
      <p:font typeface="Roboto Mono Medium"/>
      <p:regular r:id="rId33"/>
      <p:bold r:id="rId34"/>
      <p:italic r:id="rId35"/>
      <p:boldItalic r:id="rId36"/>
    </p:embeddedFont>
    <p:embeddedFont>
      <p:font typeface="Roboto"/>
      <p:regular r:id="rId37"/>
      <p:bold r:id="rId38"/>
      <p:italic r:id="rId39"/>
      <p:boldItalic r:id="rId40"/>
    </p:embeddedFont>
    <p:embeddedFont>
      <p:font typeface="Cinzel ExtraBold"/>
      <p:bold r:id="rId41"/>
    </p:embeddedFont>
    <p:embeddedFont>
      <p:font typeface="Plus Jakarta Sans"/>
      <p:regular r:id="rId42"/>
      <p:bold r:id="rId43"/>
      <p:italic r:id="rId44"/>
      <p:boldItalic r:id="rId45"/>
    </p:embeddedFont>
    <p:embeddedFont>
      <p:font typeface="Plus Jakarta Sans SemiBold"/>
      <p:regular r:id="rId46"/>
      <p:bold r:id="rId47"/>
      <p:italic r:id="rId48"/>
      <p:boldItalic r:id="rId49"/>
    </p:embeddedFont>
    <p:embeddedFont>
      <p:font typeface="Plus Jakarta Sans Medium"/>
      <p:regular r:id="rId50"/>
      <p:bold r:id="rId51"/>
      <p:italic r:id="rId52"/>
      <p:boldItalic r:id="rId53"/>
    </p:embeddedFont>
    <p:embeddedFont>
      <p:font typeface="Cinzel"/>
      <p:regular r:id="rId54"/>
      <p:bold r:id="rId55"/>
    </p:embeddedFont>
    <p:embeddedFont>
      <p:font typeface="Roboto Mono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154CF5-CB51-4E89-BA0C-4982523C5BCF}">
  <a:tblStyle styleId="{E8154CF5-CB51-4E89-BA0C-4982523C5BC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42" Type="http://schemas.openxmlformats.org/officeDocument/2006/relationships/font" Target="fonts/PlusJakartaSans-regular.fntdata"/><Relationship Id="rId41" Type="http://schemas.openxmlformats.org/officeDocument/2006/relationships/font" Target="fonts/CinzelExtraBold-bold.fntdata"/><Relationship Id="rId44" Type="http://schemas.openxmlformats.org/officeDocument/2006/relationships/font" Target="fonts/PlusJakartaSans-italic.fntdata"/><Relationship Id="rId43" Type="http://schemas.openxmlformats.org/officeDocument/2006/relationships/font" Target="fonts/PlusJakartaSans-bold.fntdata"/><Relationship Id="rId46" Type="http://schemas.openxmlformats.org/officeDocument/2006/relationships/font" Target="fonts/PlusJakartaSansSemiBold-regular.fntdata"/><Relationship Id="rId45" Type="http://schemas.openxmlformats.org/officeDocument/2006/relationships/font" Target="fonts/PlusJakarta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lusJakartaSansSemiBold-italic.fntdata"/><Relationship Id="rId47" Type="http://schemas.openxmlformats.org/officeDocument/2006/relationships/font" Target="fonts/PlusJakartaSansSemiBold-bold.fntdata"/><Relationship Id="rId49" Type="http://schemas.openxmlformats.org/officeDocument/2006/relationships/font" Target="fonts/PlusJakartaSans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SemiBold-italic.fntdata"/><Relationship Id="rId30" Type="http://schemas.openxmlformats.org/officeDocument/2006/relationships/font" Target="fonts/RobotoMonoSemiBold-bold.fntdata"/><Relationship Id="rId33" Type="http://schemas.openxmlformats.org/officeDocument/2006/relationships/font" Target="fonts/RobotoMonoMedium-regular.fntdata"/><Relationship Id="rId32" Type="http://schemas.openxmlformats.org/officeDocument/2006/relationships/font" Target="fonts/RobotoMonoSemiBold-boldItalic.fntdata"/><Relationship Id="rId35" Type="http://schemas.openxmlformats.org/officeDocument/2006/relationships/font" Target="fonts/RobotoMonoMedium-italic.fntdata"/><Relationship Id="rId34" Type="http://schemas.openxmlformats.org/officeDocument/2006/relationships/font" Target="fonts/RobotoMonoMedium-bold.fntdata"/><Relationship Id="rId37" Type="http://schemas.openxmlformats.org/officeDocument/2006/relationships/font" Target="fonts/Roboto-regular.fntdata"/><Relationship Id="rId36" Type="http://schemas.openxmlformats.org/officeDocument/2006/relationships/font" Target="fonts/RobotoMonoMedium-boldItalic.fntdata"/><Relationship Id="rId39" Type="http://schemas.openxmlformats.org/officeDocument/2006/relationships/font" Target="fonts/Roboto-italic.fntdata"/><Relationship Id="rId38" Type="http://schemas.openxmlformats.org/officeDocument/2006/relationships/font" Target="fonts/Roboto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RobotoSerif-bold.fntdata"/><Relationship Id="rId25" Type="http://schemas.openxmlformats.org/officeDocument/2006/relationships/font" Target="fonts/RobotoSerif-regular.fntdata"/><Relationship Id="rId28" Type="http://schemas.openxmlformats.org/officeDocument/2006/relationships/font" Target="fonts/RobotoSerif-boldItalic.fntdata"/><Relationship Id="rId27" Type="http://schemas.openxmlformats.org/officeDocument/2006/relationships/font" Target="fonts/RobotoSerif-italic.fntdata"/><Relationship Id="rId29" Type="http://schemas.openxmlformats.org/officeDocument/2006/relationships/font" Target="fonts/RobotoMonoSemiBold-regular.fntdata"/><Relationship Id="rId51" Type="http://schemas.openxmlformats.org/officeDocument/2006/relationships/font" Target="fonts/PlusJakartaSansMedium-bold.fntdata"/><Relationship Id="rId50" Type="http://schemas.openxmlformats.org/officeDocument/2006/relationships/font" Target="fonts/PlusJakartaSansMedium-regular.fntdata"/><Relationship Id="rId53" Type="http://schemas.openxmlformats.org/officeDocument/2006/relationships/font" Target="fonts/PlusJakartaSansMedium-boldItalic.fntdata"/><Relationship Id="rId52" Type="http://schemas.openxmlformats.org/officeDocument/2006/relationships/font" Target="fonts/PlusJakartaSansMedium-italic.fntdata"/><Relationship Id="rId11" Type="http://schemas.openxmlformats.org/officeDocument/2006/relationships/slide" Target="slides/slide5.xml"/><Relationship Id="rId55" Type="http://schemas.openxmlformats.org/officeDocument/2006/relationships/font" Target="fonts/Cinzel-bold.fntdata"/><Relationship Id="rId10" Type="http://schemas.openxmlformats.org/officeDocument/2006/relationships/slide" Target="slides/slide4.xml"/><Relationship Id="rId54" Type="http://schemas.openxmlformats.org/officeDocument/2006/relationships/font" Target="fonts/Cinzel-regular.fntdata"/><Relationship Id="rId13" Type="http://schemas.openxmlformats.org/officeDocument/2006/relationships/slide" Target="slides/slide7.xml"/><Relationship Id="rId57" Type="http://schemas.openxmlformats.org/officeDocument/2006/relationships/font" Target="fonts/RobotoMono-bold.fntdata"/><Relationship Id="rId12" Type="http://schemas.openxmlformats.org/officeDocument/2006/relationships/slide" Target="slides/slide6.xml"/><Relationship Id="rId56" Type="http://schemas.openxmlformats.org/officeDocument/2006/relationships/font" Target="fonts/RobotoMono-regular.fntdata"/><Relationship Id="rId15" Type="http://schemas.openxmlformats.org/officeDocument/2006/relationships/slide" Target="slides/slide9.xml"/><Relationship Id="rId59" Type="http://schemas.openxmlformats.org/officeDocument/2006/relationships/font" Target="fonts/RobotoMono-boldItalic.fntdata"/><Relationship Id="rId14" Type="http://schemas.openxmlformats.org/officeDocument/2006/relationships/slide" Target="slides/slide8.xml"/><Relationship Id="rId58" Type="http://schemas.openxmlformats.org/officeDocument/2006/relationships/font" Target="fonts/RobotoMon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78c688d5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f578c688d5_0_3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5217626d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f5217626df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45c797ba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45c797ba0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45c797ba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f45c797ba0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45c797ba0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f45c797ba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578c688d5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f578c688d5_0_4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11" Type="http://schemas.openxmlformats.org/officeDocument/2006/relationships/image" Target="../media/image7.png"/><Relationship Id="rId10" Type="http://schemas.openxmlformats.org/officeDocument/2006/relationships/image" Target="../media/image24.png"/><Relationship Id="rId9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3" Type="http://schemas.openxmlformats.org/officeDocument/2006/relationships/image" Target="../media/image25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9" Type="http://schemas.openxmlformats.org/officeDocument/2006/relationships/image" Target="../media/image1.png"/><Relationship Id="rId15" Type="http://schemas.openxmlformats.org/officeDocument/2006/relationships/image" Target="../media/image26.png"/><Relationship Id="rId14" Type="http://schemas.openxmlformats.org/officeDocument/2006/relationships/image" Target="../media/image21.png"/><Relationship Id="rId17" Type="http://schemas.openxmlformats.org/officeDocument/2006/relationships/image" Target="../media/image23.png"/><Relationship Id="rId16" Type="http://schemas.openxmlformats.org/officeDocument/2006/relationships/image" Target="../media/image42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9.png"/><Relationship Id="rId5" Type="http://schemas.openxmlformats.org/officeDocument/2006/relationships/image" Target="../media/image32.png"/><Relationship Id="rId6" Type="http://schemas.openxmlformats.org/officeDocument/2006/relationships/image" Target="../media/image20.png"/><Relationship Id="rId7" Type="http://schemas.openxmlformats.org/officeDocument/2006/relationships/image" Target="../media/image9.png"/><Relationship Id="rId8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9.png"/><Relationship Id="rId9" Type="http://schemas.openxmlformats.org/officeDocument/2006/relationships/image" Target="../media/image43.png"/><Relationship Id="rId5" Type="http://schemas.openxmlformats.org/officeDocument/2006/relationships/image" Target="../media/image20.png"/><Relationship Id="rId6" Type="http://schemas.openxmlformats.org/officeDocument/2006/relationships/image" Target="../media/image9.png"/><Relationship Id="rId7" Type="http://schemas.openxmlformats.org/officeDocument/2006/relationships/image" Target="../media/image39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1.png"/><Relationship Id="rId10" Type="http://schemas.openxmlformats.org/officeDocument/2006/relationships/image" Target="../media/image33.png"/><Relationship Id="rId13" Type="http://schemas.openxmlformats.org/officeDocument/2006/relationships/image" Target="../media/image29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9" Type="http://schemas.openxmlformats.org/officeDocument/2006/relationships/image" Target="../media/image30.png"/><Relationship Id="rId14" Type="http://schemas.openxmlformats.org/officeDocument/2006/relationships/image" Target="../media/image9.png"/><Relationship Id="rId5" Type="http://schemas.openxmlformats.org/officeDocument/2006/relationships/image" Target="../media/image36.png"/><Relationship Id="rId6" Type="http://schemas.openxmlformats.org/officeDocument/2006/relationships/image" Target="../media/image49.png"/><Relationship Id="rId7" Type="http://schemas.openxmlformats.org/officeDocument/2006/relationships/image" Target="../media/image14.png"/><Relationship Id="rId8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9.png"/><Relationship Id="rId5" Type="http://schemas.openxmlformats.org/officeDocument/2006/relationships/image" Target="../media/image28.png"/><Relationship Id="rId6" Type="http://schemas.openxmlformats.org/officeDocument/2006/relationships/image" Target="../media/image3.png"/><Relationship Id="rId7" Type="http://schemas.openxmlformats.org/officeDocument/2006/relationships/image" Target="../media/image37.png"/><Relationship Id="rId8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40.png"/><Relationship Id="rId9" Type="http://schemas.openxmlformats.org/officeDocument/2006/relationships/image" Target="../media/image48.png"/><Relationship Id="rId5" Type="http://schemas.openxmlformats.org/officeDocument/2006/relationships/image" Target="../media/image31.png"/><Relationship Id="rId6" Type="http://schemas.openxmlformats.org/officeDocument/2006/relationships/image" Target="../media/image38.png"/><Relationship Id="rId7" Type="http://schemas.openxmlformats.org/officeDocument/2006/relationships/image" Target="../media/image35.png"/><Relationship Id="rId8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47.png"/><Relationship Id="rId5" Type="http://schemas.openxmlformats.org/officeDocument/2006/relationships/image" Target="../media/image54.png"/><Relationship Id="rId6" Type="http://schemas.openxmlformats.org/officeDocument/2006/relationships/image" Target="../media/image45.png"/><Relationship Id="rId7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47.png"/><Relationship Id="rId5" Type="http://schemas.openxmlformats.org/officeDocument/2006/relationships/image" Target="../media/image9.png"/><Relationship Id="rId6" Type="http://schemas.openxmlformats.org/officeDocument/2006/relationships/image" Target="../media/image5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9.png"/><Relationship Id="rId5" Type="http://schemas.openxmlformats.org/officeDocument/2006/relationships/image" Target="../media/image4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60.png"/><Relationship Id="rId5" Type="http://schemas.openxmlformats.org/officeDocument/2006/relationships/image" Target="../media/image65.png"/><Relationship Id="rId6" Type="http://schemas.openxmlformats.org/officeDocument/2006/relationships/image" Target="../media/image53.png"/><Relationship Id="rId7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50.png"/><Relationship Id="rId6" Type="http://schemas.openxmlformats.org/officeDocument/2006/relationships/image" Target="../media/image52.png"/><Relationship Id="rId7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Relationship Id="rId4" Type="http://schemas.openxmlformats.org/officeDocument/2006/relationships/image" Target="../media/image58.png"/><Relationship Id="rId9" Type="http://schemas.openxmlformats.org/officeDocument/2006/relationships/image" Target="../media/image59.png"/><Relationship Id="rId5" Type="http://schemas.openxmlformats.org/officeDocument/2006/relationships/image" Target="../media/image61.png"/><Relationship Id="rId6" Type="http://schemas.openxmlformats.org/officeDocument/2006/relationships/image" Target="../media/image57.png"/><Relationship Id="rId7" Type="http://schemas.openxmlformats.org/officeDocument/2006/relationships/image" Target="../media/image9.png"/><Relationship Id="rId8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9" Type="http://schemas.openxmlformats.org/officeDocument/2006/relationships/image" Target="../media/image63.png"/><Relationship Id="rId5" Type="http://schemas.openxmlformats.org/officeDocument/2006/relationships/image" Target="../media/image51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5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4.png"/><Relationship Id="rId4" Type="http://schemas.openxmlformats.org/officeDocument/2006/relationships/image" Target="../media/image62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1C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-87" y="0"/>
            <a:ext cx="12192000" cy="29337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reflection blurRad="0" dir="0" dist="0" endA="0" endPos="17000" fadeDir="5400012" kx="0" rotWithShape="0" algn="bl" stA="34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2630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-104225" y="2933700"/>
            <a:ext cx="12296100" cy="3905100"/>
          </a:xfrm>
          <a:prstGeom prst="rect">
            <a:avLst/>
          </a:prstGeom>
          <a:solidFill>
            <a:srgbClr val="801F17"/>
          </a:solidFill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395437" y="3239290"/>
            <a:ext cx="7401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FFFFFF"/>
                </a:solidFill>
                <a:latin typeface="Cinzel ExtraBold"/>
                <a:ea typeface="Cinzel ExtraBold"/>
                <a:cs typeface="Cinzel ExtraBold"/>
                <a:sym typeface="Cinzel ExtraBold"/>
              </a:rPr>
              <a:t>Risc-Visore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3926560"/>
            <a:ext cx="1103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EF08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PROGETTAZIONE E SVILUPPO DI SOFTWARE PER VALIDAZIONE ESERCIZI E VERIFICA DI CODICE DIDATTICO SU ARCHITETTURA RISC-V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683990" y="5145760"/>
            <a:ext cx="4032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DE047"/>
                </a:solidFill>
                <a:latin typeface="Cinzel"/>
                <a:ea typeface="Cinzel"/>
                <a:cs typeface="Cinzel"/>
                <a:sym typeface="Cinzel"/>
              </a:rPr>
              <a:t>CANDIDATO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683990" y="5383885"/>
            <a:ext cx="3840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1F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Carlo Da Roma (Matr</a:t>
            </a:r>
            <a:r>
              <a:rPr lang="en-US" sz="1125">
                <a:solidFill>
                  <a:srgbClr val="F1F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icola </a:t>
            </a:r>
            <a:r>
              <a:rPr b="0" i="0" lang="en-US" sz="1125" u="none" cap="none" strike="noStrike">
                <a:solidFill>
                  <a:srgbClr val="F1F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2086036)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667351" y="5145760"/>
            <a:ext cx="4032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DE047"/>
                </a:solidFill>
                <a:latin typeface="Cinzel"/>
                <a:ea typeface="Cinzel"/>
                <a:cs typeface="Cinzel"/>
                <a:sym typeface="Cinzel"/>
              </a:rPr>
              <a:t>RELATORE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667351" y="5383885"/>
            <a:ext cx="3840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1F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Prof. Alessandro Checco</a:t>
            </a:r>
            <a:endParaRPr/>
          </a:p>
        </p:txBody>
      </p:sp>
      <p:pic>
        <p:nvPicPr>
          <p:cNvPr id="93" name="Google Shape;93;p13" title="5bed33554e277-5e986b1e7c357179e88165c5969749d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3550" y="-2120837"/>
            <a:ext cx="7324725" cy="48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81100"/>
            <a:ext cx="5372100" cy="498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9025" y="3796768"/>
            <a:ext cx="5372101" cy="2365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6162675"/>
            <a:ext cx="110299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152525" y="1504950"/>
            <a:ext cx="47405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L'ascesa di RISC-V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1905000"/>
            <a:ext cx="4800600" cy="26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-"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RISC-V rappresenta l'ultima evoluzione delle architetture R.I.S.C. (Berkeley, 2010). Essendo uno standard completamente open source, </a:t>
            </a:r>
            <a:r>
              <a:rPr b="1" i="0" lang="en-US" sz="1525" u="none" cap="none" strike="noStrike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 democratizzato il mercato dei semiconduttori</a:t>
            </a:r>
            <a:r>
              <a:rPr b="1" lang="en-US" sz="1525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b="1" sz="1525">
              <a:solidFill>
                <a:srgbClr val="7C1C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25">
              <a:solidFill>
                <a:srgbClr val="7C1C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0038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Plus Jakarta Sans"/>
              <a:buChar char="-"/>
            </a:pP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 ambito didattico, </a:t>
            </a:r>
            <a:r>
              <a:rPr b="1" lang="en-US" sz="1525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 rapidamente sostituendo il tradizionale MIPS32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grazie alla sua eleganza strutturale e all'enorme diffusione industriale.</a:t>
            </a:r>
            <a:endParaRPr b="1" sz="1525">
              <a:solidFill>
                <a:srgbClr val="7C1C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858150" y="4113675"/>
            <a:ext cx="46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L'importanza della pratica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24775" y="4513725"/>
            <a:ext cx="48006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-"/>
            </a:pPr>
            <a:r>
              <a:rPr b="1" i="0" lang="en-US" sz="1525" u="none" cap="none" strike="noStrike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 studio delle architetture a basso livello richiede esperienza hardware reale</a:t>
            </a:r>
            <a:r>
              <a:rPr b="1" lang="en-US" sz="1525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comprendere a fondo le interazioni tra istruzioni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 la macchina.</a:t>
            </a:r>
            <a:endParaRPr sz="112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-"/>
            </a:pP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 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simulatori software tendono ad astrarre eccessivamente l'esperienza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5382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775" y="414701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CONTESTO E MOTIVAZIONE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81025" y="485775"/>
            <a:ext cx="47625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4" title="sapienza-university-of-rome-vector-log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39025" y="1186918"/>
            <a:ext cx="5372101" cy="236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6858150" y="1503825"/>
            <a:ext cx="46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L'importanza d</a:t>
            </a:r>
            <a:r>
              <a:rPr b="1" lang="en-US" sz="1500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i studiare le architetture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24775" y="153716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6524775" y="1871525"/>
            <a:ext cx="4800600" cy="12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0038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Plus Jakarta Sans"/>
              <a:buChar char="-"/>
            </a:pPr>
            <a:r>
              <a:rPr b="1" lang="en-US" sz="1525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 studio delle architetture è una componente fondamentale dell’informatica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grazie a questo si apprende a pieno e in maniera approfondita il funzionamento di un calcolatore moderno.</a:t>
            </a:r>
            <a:endParaRPr sz="112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5400000" dist="19050">
              <a:srgbClr val="000000">
                <a:alpha val="0"/>
              </a:srgbClr>
            </a:outerShdw>
          </a:effectLst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5750" y="2055200"/>
            <a:ext cx="2232950" cy="93909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904875" y="856059"/>
            <a:ext cx="1105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Flusso</a:t>
            </a:r>
            <a:r>
              <a:rPr b="1" lang="en-US" sz="2700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	utilizzo</a:t>
            </a:r>
            <a:endParaRPr>
              <a:solidFill>
                <a:srgbClr val="7C1C2B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762000" y="856059"/>
            <a:ext cx="47700" cy="3771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5" title="sapienza-university-of-rome-vector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7512" y="2320423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2444224" y="2342317"/>
            <a:ext cx="186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2D3142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Input Utente</a:t>
            </a:r>
            <a:endParaRPr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1937313" y="2598025"/>
            <a:ext cx="2557800" cy="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75" u="none" cap="none" strike="noStrike">
                <a:solidFill>
                  <a:srgbClr val="5C5F73"/>
                </a:solidFill>
                <a:latin typeface="Roboto Mono"/>
                <a:ea typeface="Roboto Mono"/>
                <a:cs typeface="Roboto Mono"/>
                <a:sym typeface="Roboto Mono"/>
              </a:rPr>
              <a:t>File .asm o stringa esadecimale.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4308732" y="2527125"/>
            <a:ext cx="1768800" cy="37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9625" y="2342325"/>
            <a:ext cx="2796250" cy="82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5750" y="3090850"/>
            <a:ext cx="2232950" cy="52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/>
          <p:nvPr/>
        </p:nvSpPr>
        <p:spPr>
          <a:xfrm>
            <a:off x="6338575" y="-160275"/>
            <a:ext cx="174000" cy="80193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5" title="ESP32-C3-SuperMini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6908276" y="676622"/>
            <a:ext cx="862188" cy="104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title="pngtree-vibrant-rgb-gaming-pc-setup-png-image_1507421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02475" y="560450"/>
            <a:ext cx="1274950" cy="127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2289638" y="3169038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D3142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Scelta modalità</a:t>
            </a:r>
            <a:endParaRPr>
              <a:solidFill>
                <a:schemeClr val="dk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134" name="Google Shape;134;p15" title="icons8-scelta-32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81813" y="3225975"/>
            <a:ext cx="255425" cy="25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title="icons8-esecuzione-64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89150" y="2528950"/>
            <a:ext cx="454075" cy="45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8443225" y="2433950"/>
            <a:ext cx="212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D3142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Esecuzioni operazioni</a:t>
            </a:r>
            <a:endParaRPr sz="1200">
              <a:solidFill>
                <a:srgbClr val="2D3142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D3142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sull’input</a:t>
            </a:r>
            <a:endParaRPr sz="1200">
              <a:solidFill>
                <a:srgbClr val="2D3142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137" name="Google Shape;137;p15" title="icons8-uomo-in-piedi-10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0800" y="2118525"/>
            <a:ext cx="1274950" cy="12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33000" y="3078913"/>
            <a:ext cx="1179374" cy="1113769"/>
          </a:xfrm>
          <a:prstGeom prst="rect">
            <a:avLst/>
          </a:prstGeom>
          <a:noFill/>
          <a:ln cap="flat" cmpd="sng" w="9525">
            <a:solidFill>
              <a:srgbClr val="475569"/>
            </a:solidFill>
            <a:prstDash val="dot"/>
            <a:round/>
            <a:headEnd len="sm" w="sm" type="none"/>
            <a:tailEnd len="sm" w="sm" type="none"/>
          </a:ln>
          <a:effectLst>
            <a:outerShdw blurRad="1085850" rotWithShape="0" algn="bl" dir="12540000" dist="285750">
              <a:srgbClr val="000000">
                <a:alpha val="0"/>
              </a:srgbClr>
            </a:outerShdw>
          </a:effectLst>
        </p:spPr>
      </p:pic>
      <p:sp>
        <p:nvSpPr>
          <p:cNvPr id="139" name="Google Shape;139;p15"/>
          <p:cNvSpPr/>
          <p:nvPr/>
        </p:nvSpPr>
        <p:spPr>
          <a:xfrm>
            <a:off x="6773629" y="2542423"/>
            <a:ext cx="804000" cy="34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970300" y="3462549"/>
            <a:ext cx="594900" cy="34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9625" y="4101925"/>
            <a:ext cx="2796250" cy="82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730488" y="3036063"/>
            <a:ext cx="1179377" cy="803999"/>
          </a:xfrm>
          <a:prstGeom prst="rect">
            <a:avLst/>
          </a:prstGeom>
          <a:noFill/>
          <a:ln cap="flat" cmpd="sng" w="9525">
            <a:solidFill>
              <a:srgbClr val="334155"/>
            </a:solidFill>
            <a:prstDash val="dot"/>
            <a:round/>
            <a:headEnd len="sm" w="sm" type="none"/>
            <a:tailEnd len="sm" w="sm" type="none"/>
          </a:ln>
          <a:effectLst>
            <a:outerShdw blurRad="1428750" rotWithShape="0" algn="bl" dir="5400000" dist="19050">
              <a:srgbClr val="000000">
                <a:alpha val="0"/>
              </a:srgbClr>
            </a:outerShdw>
          </a:effectLst>
        </p:spPr>
      </p:pic>
      <p:pic>
        <p:nvPicPr>
          <p:cNvPr id="143" name="Google Shape;143;p15" title="icons8-diodo-led-24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989150" y="4292851"/>
            <a:ext cx="454075" cy="45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8543075" y="4150450"/>
            <a:ext cx="212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D3142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Segnalazione eventuali errori tramite LED</a:t>
            </a:r>
            <a:endParaRPr sz="1200">
              <a:solidFill>
                <a:srgbClr val="2D3142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descr="image.png" id="145" name="Google Shape;14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5750" y="3777950"/>
            <a:ext cx="2232950" cy="93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2289645" y="3911250"/>
            <a:ext cx="171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D3142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Installazione eventuali led sulla scheda</a:t>
            </a:r>
            <a:endParaRPr>
              <a:solidFill>
                <a:schemeClr val="dk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147" name="Google Shape;147;p15" title="icons8-lavoro-50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936275" y="4107450"/>
            <a:ext cx="346500" cy="3465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5400000" dist="19050">
              <a:srgbClr val="000000">
                <a:alpha val="0"/>
              </a:srgbClr>
            </a:outerShdw>
          </a:effectLst>
        </p:spPr>
      </p:pic>
      <p:sp>
        <p:nvSpPr>
          <p:cNvPr id="148" name="Google Shape;148;p15"/>
          <p:cNvSpPr/>
          <p:nvPr/>
        </p:nvSpPr>
        <p:spPr>
          <a:xfrm rot="5400000">
            <a:off x="9040350" y="5139840"/>
            <a:ext cx="454800" cy="34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9" name="Google Shape;1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3000" y="5696888"/>
            <a:ext cx="3669500" cy="82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 title="icons8-programma-50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577634" y="5937325"/>
            <a:ext cx="346500" cy="3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7956625" y="5833513"/>
            <a:ext cx="30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D3142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Esecuzione su microcontrollore</a:t>
            </a:r>
            <a:endParaRPr sz="1200">
              <a:solidFill>
                <a:srgbClr val="2D3142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D3142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(solo con determinati input)</a:t>
            </a:r>
            <a:endParaRPr sz="1200">
              <a:solidFill>
                <a:srgbClr val="2D3142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152" name="Google Shape;152;p1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0798875" y="4453944"/>
            <a:ext cx="1042600" cy="111935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  <a:effectLst>
            <a:outerShdw blurRad="1428750" rotWithShape="0" algn="bl" dir="5400000" dist="1905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 title="photo-1555589228-5dc844368071.jpg"/>
          <p:cNvPicPr preferRelativeResize="0"/>
          <p:nvPr/>
        </p:nvPicPr>
        <p:blipFill>
          <a:blip r:embed="rId3">
            <a:alphaModFix amt="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3103825" y="485775"/>
            <a:ext cx="11169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500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ESP32-C3 SuperMini</a:t>
            </a:r>
            <a:endParaRPr/>
          </a:p>
        </p:txBody>
      </p:sp>
      <p:pic>
        <p:nvPicPr>
          <p:cNvPr id="159" name="Google Shape;159;p16" title="sapienza-university-of-rome-vector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title="ESP32-C3-SuperMini-removebg-preview.png"/>
          <p:cNvPicPr preferRelativeResize="0"/>
          <p:nvPr/>
        </p:nvPicPr>
        <p:blipFill rotWithShape="1">
          <a:blip r:embed="rId5">
            <a:alphaModFix/>
          </a:blip>
          <a:srcRect b="0" l="-1310" r="1310" t="0"/>
          <a:stretch/>
        </p:blipFill>
        <p:spPr>
          <a:xfrm rot="5400000">
            <a:off x="3056036" y="141936"/>
            <a:ext cx="6079950" cy="735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/>
          <p:nvPr/>
        </p:nvSpPr>
        <p:spPr>
          <a:xfrm rot="5400000">
            <a:off x="8165725" y="594725"/>
            <a:ext cx="378300" cy="613200"/>
          </a:xfrm>
          <a:prstGeom prst="bentArrow">
            <a:avLst>
              <a:gd fmla="val 25000" name="adj1"/>
              <a:gd fmla="val 27656" name="adj2"/>
              <a:gd fmla="val 25000" name="adj3"/>
              <a:gd fmla="val 43750" name="adj4"/>
            </a:avLst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6" title="Espressif+Logo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50" y="12475"/>
            <a:ext cx="2640700" cy="14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/>
          <p:nvPr/>
        </p:nvSpPr>
        <p:spPr>
          <a:xfrm>
            <a:off x="581025" y="485775"/>
            <a:ext cx="47700" cy="556800"/>
          </a:xfrm>
          <a:prstGeom prst="rect">
            <a:avLst/>
          </a:prstGeom>
          <a:solidFill>
            <a:srgbClr val="2012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7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/>
          <p:nvPr/>
        </p:nvSpPr>
        <p:spPr>
          <a:xfrm>
            <a:off x="5115263" y="2913725"/>
            <a:ext cx="619200" cy="61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2315" y="1862137"/>
            <a:ext cx="4278659" cy="3619500"/>
          </a:xfrm>
          <a:prstGeom prst="rect">
            <a:avLst/>
          </a:prstGeom>
          <a:noFill/>
          <a:ln cap="flat" cmpd="sng" w="9525">
            <a:solidFill>
              <a:srgbClr val="801F17"/>
            </a:solidFill>
            <a:prstDash val="solid"/>
            <a:round/>
            <a:headEnd len="sm" w="sm" type="none"/>
            <a:tailEnd len="sm" w="sm" type="none"/>
          </a:ln>
          <a:effectLst>
            <a:outerShdw blurRad="614363" rotWithShape="0" algn="bl" dir="9120000" dist="438150">
              <a:srgbClr val="000000">
                <a:alpha val="36000"/>
              </a:srgbClr>
            </a:outerShdw>
          </a:effectLst>
        </p:spPr>
      </p:pic>
      <p:sp>
        <p:nvSpPr>
          <p:cNvPr id="171" name="Google Shape;171;p17"/>
          <p:cNvSpPr txBox="1"/>
          <p:nvPr/>
        </p:nvSpPr>
        <p:spPr>
          <a:xfrm>
            <a:off x="6169818" y="6315075"/>
            <a:ext cx="99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81025" y="2088951"/>
            <a:ext cx="6738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ESP32-C3 SuperMini</a:t>
            </a:r>
            <a:endParaRPr b="1" sz="3500"/>
          </a:p>
        </p:txBody>
      </p:sp>
      <p:pic>
        <p:nvPicPr>
          <p:cNvPr descr="image.png" id="173" name="Google Shape;17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4240" y="2322611"/>
            <a:ext cx="3954809" cy="2698402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174" name="Google Shape;174;p17"/>
          <p:cNvSpPr txBox="1"/>
          <p:nvPr/>
        </p:nvSpPr>
        <p:spPr>
          <a:xfrm>
            <a:off x="1009650" y="3038670"/>
            <a:ext cx="598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Architettura Nativa RISC-V</a:t>
            </a:r>
            <a:r>
              <a:rPr b="0" i="0" lang="en-US" sz="24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sz="2400"/>
          </a:p>
        </p:txBody>
      </p:sp>
      <p:sp>
        <p:nvSpPr>
          <p:cNvPr id="175" name="Google Shape;175;p17"/>
          <p:cNvSpPr txBox="1"/>
          <p:nvPr/>
        </p:nvSpPr>
        <p:spPr>
          <a:xfrm>
            <a:off x="1009650" y="3749200"/>
            <a:ext cx="598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Estremamente Economico</a:t>
            </a:r>
            <a:r>
              <a:rPr b="0" i="0" lang="en-US" sz="24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sz="2400"/>
          </a:p>
        </p:txBody>
      </p:sp>
      <p:sp>
        <p:nvSpPr>
          <p:cNvPr id="176" name="Google Shape;176;p17"/>
          <p:cNvSpPr txBox="1"/>
          <p:nvPr/>
        </p:nvSpPr>
        <p:spPr>
          <a:xfrm>
            <a:off x="1009650" y="4459730"/>
            <a:ext cx="598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Connettività </a:t>
            </a:r>
            <a:r>
              <a:rPr b="1" lang="en-US" sz="2400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USB </a:t>
            </a:r>
            <a:r>
              <a:rPr b="1" i="0" lang="en-US" sz="2400" u="none" cap="none" strike="noStrike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I/O </a:t>
            </a:r>
            <a:endParaRPr sz="2400"/>
          </a:p>
        </p:txBody>
      </p:sp>
      <p:sp>
        <p:nvSpPr>
          <p:cNvPr id="177" name="Google Shape;177;p17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SCELTA DEL MICROCONTROLLORE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581025" y="485775"/>
            <a:ext cx="47625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312330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3833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" y="454431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title="sapienza-university-of-rome-vector-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title="790f28bcf8f86f37cc591935e62dbac1.png"/>
          <p:cNvPicPr preferRelativeResize="0"/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>
            <a:off x="5131350" y="2929813"/>
            <a:ext cx="587025" cy="5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8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2315" y="1862137"/>
            <a:ext cx="4278658" cy="3619500"/>
          </a:xfrm>
          <a:prstGeom prst="rect">
            <a:avLst/>
          </a:prstGeom>
          <a:noFill/>
          <a:ln cap="flat" cmpd="sng" w="9525">
            <a:solidFill>
              <a:srgbClr val="801F17"/>
            </a:solidFill>
            <a:prstDash val="solid"/>
            <a:round/>
            <a:headEnd len="sm" w="sm" type="none"/>
            <a:tailEnd len="sm" w="sm" type="none"/>
          </a:ln>
          <a:effectLst>
            <a:outerShdw blurRad="857250" rotWithShape="0" algn="bl" dir="8040000" dist="390525">
              <a:srgbClr val="000000">
                <a:alpha val="58000"/>
              </a:srgbClr>
            </a:outerShdw>
          </a:effectLst>
        </p:spPr>
      </p:pic>
      <p:sp>
        <p:nvSpPr>
          <p:cNvPr id="190" name="Google Shape;190;p18"/>
          <p:cNvSpPr txBox="1"/>
          <p:nvPr/>
        </p:nvSpPr>
        <p:spPr>
          <a:xfrm>
            <a:off x="1009650" y="3098520"/>
            <a:ext cx="59892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5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Ampia comunità e numerosi progetti già avviati</a:t>
            </a:r>
            <a:endParaRPr sz="2100"/>
          </a:p>
        </p:txBody>
      </p:sp>
      <p:sp>
        <p:nvSpPr>
          <p:cNvPr id="191" name="Google Shape;191;p18"/>
          <p:cNvSpPr txBox="1"/>
          <p:nvPr/>
        </p:nvSpPr>
        <p:spPr>
          <a:xfrm>
            <a:off x="1009650" y="3815425"/>
            <a:ext cx="59892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Documentazione molto completa e facile da consultare</a:t>
            </a:r>
            <a:endParaRPr sz="2000"/>
          </a:p>
        </p:txBody>
      </p:sp>
      <p:sp>
        <p:nvSpPr>
          <p:cNvPr id="192" name="Google Shape;192;p18"/>
          <p:cNvSpPr txBox="1"/>
          <p:nvPr/>
        </p:nvSpPr>
        <p:spPr>
          <a:xfrm>
            <a:off x="1009650" y="4501730"/>
            <a:ext cx="59892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5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Supportata nativamente da Arduino-ide</a:t>
            </a:r>
            <a:endParaRPr sz="2100"/>
          </a:p>
        </p:txBody>
      </p:sp>
      <p:sp>
        <p:nvSpPr>
          <p:cNvPr id="193" name="Google Shape;193;p18"/>
          <p:cNvSpPr txBox="1"/>
          <p:nvPr/>
        </p:nvSpPr>
        <p:spPr>
          <a:xfrm>
            <a:off x="723900" y="485775"/>
            <a:ext cx="1143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SCELTA DEL MICROCONTROLLORE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581025" y="485775"/>
            <a:ext cx="477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312330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3833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454431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title="sapienza-university-of-rome-vector-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47116" y="2601613"/>
            <a:ext cx="3849072" cy="215445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200" name="Google Shape;200;p18"/>
          <p:cNvSpPr txBox="1"/>
          <p:nvPr/>
        </p:nvSpPr>
        <p:spPr>
          <a:xfrm>
            <a:off x="581025" y="2088951"/>
            <a:ext cx="6738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ESP32-C3 SuperMini</a:t>
            </a:r>
            <a:endParaRPr b="1" sz="3500"/>
          </a:p>
        </p:txBody>
      </p:sp>
      <p:pic>
        <p:nvPicPr>
          <p:cNvPr id="201" name="Google Shape;201;p18" title="Espressif+Logo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270775" y="2601625"/>
            <a:ext cx="1042600" cy="58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title="clipart1179524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68290" y="4314410"/>
            <a:ext cx="655426" cy="655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9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95487"/>
            <a:ext cx="354955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1995487"/>
            <a:ext cx="3549699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1995487"/>
            <a:ext cx="354955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6162675"/>
            <a:ext cx="110299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70050" y="23193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1665714" y="3033712"/>
            <a:ext cx="138017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caricatore.py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866775" y="3690937"/>
            <a:ext cx="29781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Applicazione lato desktop scritta in Python</a:t>
            </a:r>
            <a:r>
              <a:rPr b="1"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comprensiva di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interfaccia grafica (GUI).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Gestisce la compilazione del codice tramite RARS, il flashing tramite Arduino CLI e la trasmissione del payload via 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USB.</a:t>
            </a:r>
            <a:endParaRPr/>
          </a:p>
        </p:txBody>
      </p:sp>
      <p:pic>
        <p:nvPicPr>
          <p:cNvPr descr="image.png" id="215" name="Google Shape;21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101" y="23193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5415766" y="3033712"/>
            <a:ext cx="136017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validator.ino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4606825" y="3690937"/>
            <a:ext cx="29781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Scritto in 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C++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 presente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sul microcontrollore.</a:t>
            </a: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Gestisce la ricezione dei pacchetti, l'identificazione de</a:t>
            </a:r>
            <a:r>
              <a:rPr b="1"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lla modalità di utilizzo e la gestione dei LED</a:t>
            </a: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b="1">
              <a:solidFill>
                <a:srgbClr val="475569"/>
              </a:solidFill>
            </a:endParaRPr>
          </a:p>
        </p:txBody>
      </p:sp>
      <p:pic>
        <p:nvPicPr>
          <p:cNvPr descr="image.png" id="218" name="Google Shape;218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50300" y="23193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8915935" y="3033712"/>
            <a:ext cx="184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Controlli statici e Emulatore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8347025" y="3690937"/>
            <a:ext cx="29781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Validatore ed emulatore scritt</a:t>
            </a:r>
            <a:r>
              <a:rPr b="1"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 Assembly RISC-V.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Compie analisi statica del bytecode e simulazione dinamica tramite 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basilare macchina virtuale 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 del via libera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all’esecuzione 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nativ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sul chip.</a:t>
            </a:r>
            <a:endParaRPr/>
          </a:p>
        </p:txBody>
      </p:sp>
      <p:pic>
        <p:nvPicPr>
          <p:cNvPr descr="image.png" id="221" name="Google Shape;221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55787" y="249078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52976" y="24907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93175" y="249078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STRUTTURA DEL SISTEMA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581025" y="485775"/>
            <a:ext cx="47625" cy="4572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9" title="sapienza-university-of-rome-vector-logo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0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723900" y="485775"/>
            <a:ext cx="1143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La GUI PYTHON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581025" y="485775"/>
            <a:ext cx="47700" cy="457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20" title="sapienza-university-of-rome-vector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2550" y="1289300"/>
            <a:ext cx="4531551" cy="42794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  <a:effectLst>
            <a:outerShdw blurRad="1085850" rotWithShape="0" algn="bl" dir="12540000" dist="285750">
              <a:srgbClr val="000000">
                <a:alpha val="50000"/>
              </a:srgbClr>
            </a:outerShdw>
          </a:effectLst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2075" y="2002449"/>
            <a:ext cx="354955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61025" y="23167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8056689" y="3031100"/>
            <a:ext cx="138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caricatore.py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7257788" y="3674050"/>
            <a:ext cx="29781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34155"/>
                </a:solidFill>
              </a:rPr>
              <a:t>	</a:t>
            </a:r>
            <a:r>
              <a:rPr lang="en-US" sz="11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Questa GUI:</a:t>
            </a:r>
            <a:endParaRPr sz="11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Plus Jakarta Sans"/>
              <a:buChar char="-"/>
            </a:pPr>
            <a:r>
              <a:rPr lang="en-US" sz="11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 la necessità di interagire da riga di comando.</a:t>
            </a:r>
            <a:endParaRPr sz="11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Plus Jakarta Sans"/>
              <a:buChar char="-"/>
            </a:pPr>
            <a:r>
              <a:rPr lang="en-US" sz="11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Consente di selezionare agilmente le 5 modalità</a:t>
            </a:r>
            <a:endParaRPr sz="11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5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240" name="Google Shape;24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46762" y="2488175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1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/>
          <p:nvPr/>
        </p:nvSpPr>
        <p:spPr>
          <a:xfrm>
            <a:off x="349700" y="2078775"/>
            <a:ext cx="11472000" cy="317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801F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7" name="Google Shape;2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98650"/>
            <a:ext cx="11029950" cy="27464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8" name="Google Shape;248;p21"/>
          <p:cNvGraphicFramePr/>
          <p:nvPr/>
        </p:nvGraphicFramePr>
        <p:xfrm>
          <a:off x="590550" y="23081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{E8154CF5-CB51-4E89-BA0C-4982523C5BCF}</a:tableStyleId>
              </a:tblPr>
              <a:tblGrid>
                <a:gridCol w="2542875"/>
                <a:gridCol w="2364875"/>
                <a:gridCol w="2936975"/>
                <a:gridCol w="3166175"/>
              </a:tblGrid>
              <a:tr h="45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Modalità Operativa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1C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Tipo Input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1C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Validazione On-Chip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1C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Esecuzione Nativa 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1C2B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 Controlli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Sorgente `.asm`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EF444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NESSUNA</a:t>
                      </a:r>
                      <a:endParaRPr/>
                    </a:p>
                  </a:txBody>
                  <a:tcPr marT="25400" marB="25400" marR="63500" marL="2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SÌ (DIRETTA)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Assembly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Sorgente `.asm`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STATICA + DINAMICA</a:t>
                      </a:r>
                      <a:endParaRPr/>
                    </a:p>
                  </a:txBody>
                  <a:tcPr marT="25400" marB="25400" marR="63500" marL="2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SÌ (SE VALIDA)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Multipla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Sorgente `.asm`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STRESS TEST MULTI-DATA</a:t>
                      </a:r>
                      <a:endParaRPr/>
                    </a:p>
                  </a:txBody>
                  <a:tcPr marT="25400" marB="25400" marR="63500" marL="2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SÌ (N-VOLTE)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Diretta (.hex)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</a:t>
                      </a:r>
                      <a:r>
                        <a:rPr lang="en-US" sz="105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tringa esadecimale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STATICA + DINAMICA</a:t>
                      </a:r>
                      <a:endParaRPr/>
                    </a:p>
                  </a:txBody>
                  <a:tcPr marT="25400" marB="25400" marR="63500" marL="2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SOLO SANDBOX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Null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59E0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DIAGNOSI LED</a:t>
                      </a:r>
                      <a:endParaRPr/>
                    </a:p>
                  </a:txBody>
                  <a:tcPr marT="25400" marB="25400" marR="63500" marL="2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 (SOLO GPIO)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9" name="Google Shape;249;p21"/>
          <p:cNvSpPr/>
          <p:nvPr/>
        </p:nvSpPr>
        <p:spPr>
          <a:xfrm>
            <a:off x="590550" y="3225254"/>
            <a:ext cx="25428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3133427" y="3225254"/>
            <a:ext cx="23648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498306" y="3225254"/>
            <a:ext cx="293697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8435280" y="3225254"/>
            <a:ext cx="31661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590550" y="3676650"/>
            <a:ext cx="25428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3133427" y="3676650"/>
            <a:ext cx="23648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5498306" y="3676650"/>
            <a:ext cx="293697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8435280" y="3676650"/>
            <a:ext cx="31661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590550" y="4128045"/>
            <a:ext cx="25428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3133427" y="4128045"/>
            <a:ext cx="23648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5498306" y="4128045"/>
            <a:ext cx="293697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8435280" y="4128045"/>
            <a:ext cx="31661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90550" y="4579441"/>
            <a:ext cx="25428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3133427" y="4579441"/>
            <a:ext cx="23648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5498306" y="4579441"/>
            <a:ext cx="293697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8435280" y="4579441"/>
            <a:ext cx="316616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5" name="Google Shape;26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5456" y="4743253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55456" y="3389041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55456" y="293764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55456" y="3840437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55456" y="4291833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723900" y="485775"/>
            <a:ext cx="1143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MODALITÀ FUNZIONAMENTO</a:t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581025" y="485775"/>
            <a:ext cx="47625" cy="457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21" title="sapienza-university-of-rome-vector-logo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2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/>
          <p:nvPr/>
        </p:nvSpPr>
        <p:spPr>
          <a:xfrm>
            <a:off x="204350" y="3019886"/>
            <a:ext cx="11753400" cy="2383200"/>
          </a:xfrm>
          <a:prstGeom prst="rect">
            <a:avLst/>
          </a:prstGeom>
          <a:solidFill>
            <a:schemeClr val="lt2"/>
          </a:solidFill>
          <a:ln cap="flat" cmpd="sng" w="109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  <a:effectLst>
            <a:outerShdw blurRad="685800" rotWithShape="0" algn="bl" dir="5280000" dist="438150">
              <a:srgbClr val="000000">
                <a:alpha val="50000"/>
              </a:srgbClr>
            </a:outerShdw>
          </a:effectLst>
        </p:spPr>
        <p:txBody>
          <a:bodyPr anchorCtr="0" anchor="ctr" bIns="105350" lIns="105350" spcFirstLastPara="1" rIns="105350" wrap="square" tIns="105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3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580950" y="1415273"/>
            <a:ext cx="1103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Implementati in </a:t>
            </a:r>
            <a:r>
              <a:rPr b="0" i="0" lang="en-US" sz="1200" u="none" cap="none" strike="noStrike">
                <a:solidFill>
                  <a:srgbClr val="7C1C2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controlli_statici.S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, verificano l'integrità formale e la sicurezza del bytecode istruzione per istruzione prima del caricamento: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580950" y="3726600"/>
            <a:ext cx="31698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2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Pre-operazioni e </a:t>
            </a:r>
            <a:r>
              <a:rPr b="1" i="0" lang="en-US" sz="1222" u="none" cap="none" strike="noStrike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Ricostruzione Word</a:t>
            </a:r>
            <a:r>
              <a:rPr b="0" i="0" lang="en-US" sz="122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sz="1222"/>
          </a:p>
        </p:txBody>
      </p:sp>
      <p:sp>
        <p:nvSpPr>
          <p:cNvPr id="281" name="Google Shape;281;p22"/>
          <p:cNvSpPr txBox="1"/>
          <p:nvPr/>
        </p:nvSpPr>
        <p:spPr>
          <a:xfrm>
            <a:off x="3539257" y="3334950"/>
            <a:ext cx="24705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2" u="none" cap="none" strike="noStrike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Riconoscimento Opcode</a:t>
            </a:r>
            <a:r>
              <a:rPr b="0" i="0" lang="en-US" sz="1222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sz="1222"/>
          </a:p>
        </p:txBody>
      </p:sp>
      <p:sp>
        <p:nvSpPr>
          <p:cNvPr id="282" name="Google Shape;282;p22"/>
          <p:cNvSpPr txBox="1"/>
          <p:nvPr/>
        </p:nvSpPr>
        <p:spPr>
          <a:xfrm>
            <a:off x="6400700" y="3327300"/>
            <a:ext cx="2937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2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esecuzione controlli</a:t>
            </a:r>
            <a:endParaRPr sz="1322"/>
          </a:p>
        </p:txBody>
      </p:sp>
      <p:sp>
        <p:nvSpPr>
          <p:cNvPr id="283" name="Google Shape;283;p22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VALIDAZIONE: CONTROLLI STATICI</a:t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581025" y="485775"/>
            <a:ext cx="47625" cy="4572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22" title="sapienza-university-of-rome-vector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/>
        </p:nvSpPr>
        <p:spPr>
          <a:xfrm>
            <a:off x="580950" y="2008288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Distinguiamo le fasi: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9269203" y="3334960"/>
            <a:ext cx="12215700" cy="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2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Post-operazioni</a:t>
            </a:r>
            <a:endParaRPr sz="1222"/>
          </a:p>
        </p:txBody>
      </p:sp>
      <p:grpSp>
        <p:nvGrpSpPr>
          <p:cNvPr id="288" name="Google Shape;288;p22"/>
          <p:cNvGrpSpPr/>
          <p:nvPr/>
        </p:nvGrpSpPr>
        <p:grpSpPr>
          <a:xfrm>
            <a:off x="6400692" y="3596825"/>
            <a:ext cx="2178987" cy="1395619"/>
            <a:chOff x="1917073" y="1695421"/>
            <a:chExt cx="1418334" cy="908428"/>
          </a:xfrm>
        </p:grpSpPr>
        <p:cxnSp>
          <p:nvCxnSpPr>
            <p:cNvPr id="289" name="Google Shape;289;p22"/>
            <p:cNvCxnSpPr/>
            <p:nvPr/>
          </p:nvCxnSpPr>
          <p:spPr>
            <a:xfrm>
              <a:off x="2597529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B02B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0" name="Google Shape;290;p22"/>
            <p:cNvSpPr/>
            <p:nvPr/>
          </p:nvSpPr>
          <p:spPr>
            <a:xfrm flipH="1">
              <a:off x="1917073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140450" lIns="140450" spcFirstLastPara="1" rIns="140450" wrap="square" tIns="1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89"/>
                <a:t>  </a:t>
              </a:r>
              <a:endParaRPr sz="2189"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1917307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140450" lIns="140450" spcFirstLastPara="1" rIns="140450" wrap="square" tIns="1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" name="Google Shape;292;p22"/>
          <p:cNvGrpSpPr/>
          <p:nvPr/>
        </p:nvGrpSpPr>
        <p:grpSpPr>
          <a:xfrm>
            <a:off x="3539242" y="3596825"/>
            <a:ext cx="2178987" cy="1395619"/>
            <a:chOff x="1917073" y="1695421"/>
            <a:chExt cx="1418334" cy="908428"/>
          </a:xfrm>
        </p:grpSpPr>
        <p:cxnSp>
          <p:nvCxnSpPr>
            <p:cNvPr id="293" name="Google Shape;293;p22"/>
            <p:cNvCxnSpPr/>
            <p:nvPr/>
          </p:nvCxnSpPr>
          <p:spPr>
            <a:xfrm>
              <a:off x="2597529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B02B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4" name="Google Shape;294;p22"/>
            <p:cNvSpPr/>
            <p:nvPr/>
          </p:nvSpPr>
          <p:spPr>
            <a:xfrm flipH="1">
              <a:off x="1917073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140450" lIns="140450" spcFirstLastPara="1" rIns="140450" wrap="square" tIns="1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89"/>
                <a:t>  </a:t>
              </a:r>
              <a:endParaRPr sz="2189"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1917307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140450" lIns="140450" spcFirstLastPara="1" rIns="140450" wrap="square" tIns="1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22"/>
          <p:cNvGrpSpPr/>
          <p:nvPr/>
        </p:nvGrpSpPr>
        <p:grpSpPr>
          <a:xfrm>
            <a:off x="9325434" y="3579400"/>
            <a:ext cx="2178987" cy="1395619"/>
            <a:chOff x="1917073" y="1695421"/>
            <a:chExt cx="1418334" cy="908428"/>
          </a:xfrm>
        </p:grpSpPr>
        <p:cxnSp>
          <p:nvCxnSpPr>
            <p:cNvPr id="297" name="Google Shape;297;p22"/>
            <p:cNvCxnSpPr/>
            <p:nvPr/>
          </p:nvCxnSpPr>
          <p:spPr>
            <a:xfrm>
              <a:off x="2597529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B02B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8" name="Google Shape;298;p22"/>
            <p:cNvSpPr/>
            <p:nvPr/>
          </p:nvSpPr>
          <p:spPr>
            <a:xfrm flipH="1">
              <a:off x="1917073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140450" lIns="140450" spcFirstLastPara="1" rIns="140450" wrap="square" tIns="1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89"/>
                <a:t>  </a:t>
              </a:r>
              <a:endParaRPr sz="2189"/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1917307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140450" lIns="140450" spcFirstLastPara="1" rIns="140450" wrap="square" tIns="1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22"/>
          <p:cNvGrpSpPr/>
          <p:nvPr/>
        </p:nvGrpSpPr>
        <p:grpSpPr>
          <a:xfrm>
            <a:off x="677800" y="3972975"/>
            <a:ext cx="2178987" cy="1002043"/>
            <a:chOff x="1917073" y="1951605"/>
            <a:chExt cx="1418334" cy="652244"/>
          </a:xfrm>
        </p:grpSpPr>
        <p:cxnSp>
          <p:nvCxnSpPr>
            <p:cNvPr id="301" name="Google Shape;301;p22"/>
            <p:cNvCxnSpPr/>
            <p:nvPr/>
          </p:nvCxnSpPr>
          <p:spPr>
            <a:xfrm>
              <a:off x="2854275" y="1951605"/>
              <a:ext cx="461700" cy="485700"/>
            </a:xfrm>
            <a:prstGeom prst="straightConnector1">
              <a:avLst/>
            </a:prstGeom>
            <a:noFill/>
            <a:ln cap="flat" cmpd="sng" w="9525">
              <a:solidFill>
                <a:srgbClr val="B02B2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2" name="Google Shape;302;p22"/>
            <p:cNvSpPr/>
            <p:nvPr/>
          </p:nvSpPr>
          <p:spPr>
            <a:xfrm flipH="1">
              <a:off x="1917073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B02B20"/>
            </a:solidFill>
            <a:ln>
              <a:noFill/>
            </a:ln>
          </p:spPr>
          <p:txBody>
            <a:bodyPr anchorCtr="0" anchor="ctr" bIns="140450" lIns="140450" spcFirstLastPara="1" rIns="140450" wrap="square" tIns="1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89"/>
                <a:t>  </a:t>
              </a:r>
              <a:endParaRPr sz="2189"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1917307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801F17"/>
            </a:solidFill>
            <a:ln>
              <a:noFill/>
            </a:ln>
          </p:spPr>
          <p:txBody>
            <a:bodyPr anchorCtr="0" anchor="ctr" bIns="140450" lIns="140450" spcFirstLastPara="1" rIns="140450" wrap="square" tIns="1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3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24905"/>
            <a:ext cx="5372100" cy="45377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624905"/>
            <a:ext cx="5372100" cy="453776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 txBox="1"/>
          <p:nvPr/>
        </p:nvSpPr>
        <p:spPr>
          <a:xfrm>
            <a:off x="581025" y="1181100"/>
            <a:ext cx="1102995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Il file </a:t>
            </a:r>
            <a:r>
              <a:rPr b="0" i="0" lang="en-US" sz="1200" u="none" cap="none" strike="noStrike">
                <a:solidFill>
                  <a:srgbClr val="7C1C2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controllo_dinamico_loop.S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agisce come una macchina virtuale per interpretare ed emulare l'esecuzione della sezione </a:t>
            </a:r>
            <a:r>
              <a:rPr b="0" i="0" lang="en-US" sz="1200" u="none" cap="none" strike="noStrike">
                <a:solidFill>
                  <a:srgbClr val="7C1C2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.text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: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1152525" y="1948755"/>
            <a:ext cx="474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Macchina virtuale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866775" y="2348805"/>
            <a:ext cx="48006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0038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Plus Jakarta Sans"/>
              <a:buChar char="-"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 registri reali non vengono toccati durante la simulazione. Le scritture avvengono su uno 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SPAZIO 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RAM 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SIMULATO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dedicato denominato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REGISTRI_VIRTUALI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(dimensione di 128 byte).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866775" y="3550893"/>
            <a:ext cx="48006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0038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Plus Jakarta Sans"/>
              <a:buChar char="-"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 operazioni di Store e Load sono tradotte dinamicamente mediante un offset all'interno dell'array isolato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MEMORIA_VIRTUALE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(4096 byte).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6762750" y="1948755"/>
            <a:ext cx="479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Watchdog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6524625" y="2348805"/>
            <a:ext cx="48006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0038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Plus Jakarta Sans"/>
              <a:buChar char="-"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 risolvere</a:t>
            </a:r>
            <a:r>
              <a:rPr b="1" i="1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l'Halting Problem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la VM impone un tetto massimo di esecuzione di 4096 operazioni. Se il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CONTAPASSI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supera tale soglia, il codice viene interrotto per loop infinito rilevato.</a:t>
            </a:r>
            <a:endParaRPr/>
          </a:p>
        </p:txBody>
      </p:sp>
      <p:pic>
        <p:nvPicPr>
          <p:cNvPr descr="image.png" id="317" name="Google Shape;31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198209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1982092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 txBox="1"/>
          <p:nvPr/>
        </p:nvSpPr>
        <p:spPr>
          <a:xfrm>
            <a:off x="723900" y="485775"/>
            <a:ext cx="1143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VALIDAZIONE DINAMICA </a:t>
            </a:r>
            <a:r>
              <a:rPr b="1" lang="en-US" sz="2700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(</a:t>
            </a:r>
            <a:r>
              <a:rPr b="1" lang="en-US" sz="1900">
                <a:solidFill>
                  <a:srgbClr val="7C1C2B"/>
                </a:solidFill>
                <a:latin typeface="Roboto Serif"/>
                <a:ea typeface="Roboto Serif"/>
                <a:cs typeface="Roboto Serif"/>
                <a:sym typeface="Roboto Serif"/>
              </a:rPr>
              <a:t>controllo_dinamico_loop.S</a:t>
            </a:r>
            <a:r>
              <a:rPr b="1" lang="en-US" sz="2700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)</a:t>
            </a:r>
            <a:endParaRPr/>
          </a:p>
        </p:txBody>
      </p:sp>
      <p:sp>
        <p:nvSpPr>
          <p:cNvPr id="320" name="Google Shape;320;p23"/>
          <p:cNvSpPr/>
          <p:nvPr/>
        </p:nvSpPr>
        <p:spPr>
          <a:xfrm>
            <a:off x="581025" y="485775"/>
            <a:ext cx="47625" cy="4572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23" title="sapienza-university-of-rome-vector-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4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3250" y="1645725"/>
            <a:ext cx="5372101" cy="423513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4"/>
          <p:cNvSpPr txBox="1"/>
          <p:nvPr/>
        </p:nvSpPr>
        <p:spPr>
          <a:xfrm>
            <a:off x="581025" y="1181100"/>
            <a:ext cx="1103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Il file </a:t>
            </a:r>
            <a:r>
              <a:rPr b="0" i="0" lang="en-US" sz="1200" u="none" cap="none" strike="noStrike">
                <a:solidFill>
                  <a:srgbClr val="7C1C2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controllo_dinamico_loop.S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agisce come una macchina virtuale per interpretare ed emulare l'esecuzione della sezione </a:t>
            </a:r>
            <a:r>
              <a:rPr b="0" i="0" lang="en-US" sz="1200" u="none" cap="none" strike="noStrike">
                <a:solidFill>
                  <a:srgbClr val="7C1C2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.text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: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3404650" y="1921205"/>
            <a:ext cx="479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Limitazioni tecniche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3109000" y="2418496"/>
            <a:ext cx="48006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0038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Plus Jakarta Sans"/>
              <a:buChar char="-"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 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 rendere il progetto troppo complicato nella realizzazione  durante la simulazione</a:t>
            </a:r>
            <a:r>
              <a:rPr b="1" lang="en-US" sz="14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-US" sz="1425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sezione .data viene tralasciata.</a:t>
            </a:r>
            <a:endParaRPr b="1" sz="1425">
              <a:solidFill>
                <a:srgbClr val="7C1C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1" name="Google Shape;331;p24"/>
          <p:cNvSpPr txBox="1"/>
          <p:nvPr/>
        </p:nvSpPr>
        <p:spPr>
          <a:xfrm>
            <a:off x="723900" y="485775"/>
            <a:ext cx="1143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VALIDAZIONE DINAMICA</a:t>
            </a: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581025" y="485775"/>
            <a:ext cx="47700" cy="457200"/>
          </a:xfrm>
          <a:prstGeom prst="rect">
            <a:avLst/>
          </a:prstGeom>
          <a:solidFill>
            <a:srgbClr val="7C1C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24" title="sapienza-university-of-rome-vector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09000" y="194146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4"/>
          <p:cNvSpPr/>
          <p:nvPr/>
        </p:nvSpPr>
        <p:spPr>
          <a:xfrm>
            <a:off x="3299500" y="3613875"/>
            <a:ext cx="4356900" cy="147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801F17"/>
            </a:solidFill>
            <a:prstDash val="solid"/>
            <a:round/>
            <a:headEnd len="sm" w="sm" type="none"/>
            <a:tailEnd len="sm" w="sm" type="none"/>
          </a:ln>
          <a:effectLst>
            <a:outerShdw blurRad="357188" rotWithShape="0" algn="bl" dir="3180000" dist="104775">
              <a:srgbClr val="000000">
                <a:alpha val="4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801F17"/>
                </a:solidFill>
                <a:latin typeface="Cinzel"/>
                <a:ea typeface="Cinzel"/>
                <a:cs typeface="Cinzel"/>
                <a:sym typeface="Cinzel"/>
              </a:rPr>
              <a:t>Nel .data sono presenti variabili e costanti…</a:t>
            </a:r>
            <a:endParaRPr b="1" sz="1700">
              <a:solidFill>
                <a:srgbClr val="801F17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5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5"/>
          <p:cNvSpPr/>
          <p:nvPr/>
        </p:nvSpPr>
        <p:spPr>
          <a:xfrm>
            <a:off x="326550" y="2491875"/>
            <a:ext cx="11681400" cy="33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14350" rotWithShape="0" algn="bl" dir="5400000" dist="400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 txBox="1"/>
          <p:nvPr/>
        </p:nvSpPr>
        <p:spPr>
          <a:xfrm>
            <a:off x="904875" y="856059"/>
            <a:ext cx="1105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Flusso</a:t>
            </a:r>
            <a:r>
              <a:rPr b="1" lang="en-US" sz="2700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	</a:t>
            </a:r>
            <a:r>
              <a:rPr b="1" lang="en-US" sz="1900">
                <a:solidFill>
                  <a:srgbClr val="7C1C2B"/>
                </a:solidFill>
                <a:latin typeface="Roboto Serif"/>
                <a:ea typeface="Roboto Serif"/>
                <a:cs typeface="Roboto Serif"/>
                <a:sym typeface="Roboto Serif"/>
              </a:rPr>
              <a:t>controllo_dinamico_loop.S</a:t>
            </a:r>
            <a:endParaRPr>
              <a:solidFill>
                <a:srgbClr val="7C1C2B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762000" y="856059"/>
            <a:ext cx="47700" cy="377100"/>
          </a:xfrm>
          <a:prstGeom prst="rect">
            <a:avLst/>
          </a:prstGeom>
          <a:solidFill>
            <a:srgbClr val="801F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572375" y="2983050"/>
            <a:ext cx="3103200" cy="8919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Decodifica istruzione</a:t>
            </a:r>
            <a:endParaRPr b="1" sz="19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4413075" y="3024900"/>
            <a:ext cx="3448200" cy="8919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Simulazione istruzione (non salto)</a:t>
            </a:r>
            <a:endParaRPr b="1" sz="19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9456525" y="6145438"/>
            <a:ext cx="2566500" cy="3771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Post-operazioni</a:t>
            </a:r>
            <a:endParaRPr b="1" sz="1900">
              <a:solidFill>
                <a:srgbClr val="33415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74725" y="1477375"/>
            <a:ext cx="2608500" cy="5130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Pre-operazioni</a:t>
            </a:r>
            <a:endParaRPr b="1" sz="19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48" name="Google Shape;348;p25" title="sapienza-university-of-rome-vector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5"/>
          <p:cNvSpPr/>
          <p:nvPr/>
        </p:nvSpPr>
        <p:spPr>
          <a:xfrm>
            <a:off x="4473154" y="4847169"/>
            <a:ext cx="3388200" cy="8919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simulazione salto</a:t>
            </a:r>
            <a:endParaRPr b="1" sz="19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4290175" y="3306425"/>
            <a:ext cx="757800" cy="286200"/>
          </a:xfrm>
          <a:prstGeom prst="rect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3894163" y="3362925"/>
            <a:ext cx="300300" cy="2073300"/>
          </a:xfrm>
          <a:prstGeom prst="rect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3511800" y="3306425"/>
            <a:ext cx="1309200" cy="286200"/>
          </a:xfrm>
          <a:prstGeom prst="rect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3894175" y="5150025"/>
            <a:ext cx="1052400" cy="286200"/>
          </a:xfrm>
          <a:prstGeom prst="rect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8093850" y="3176250"/>
            <a:ext cx="2433000" cy="5892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Incremento PC</a:t>
            </a:r>
            <a:endParaRPr b="1" sz="19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7469650" y="3327750"/>
            <a:ext cx="927900" cy="286200"/>
          </a:xfrm>
          <a:prstGeom prst="rect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4645775" y="1659025"/>
            <a:ext cx="175200" cy="164100"/>
          </a:xfrm>
          <a:prstGeom prst="ellipse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4918838" y="1659025"/>
            <a:ext cx="175200" cy="164100"/>
          </a:xfrm>
          <a:prstGeom prst="ellipse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5447050" y="1659025"/>
            <a:ext cx="175200" cy="164100"/>
          </a:xfrm>
          <a:prstGeom prst="ellipse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5"/>
          <p:cNvSpPr/>
          <p:nvPr/>
        </p:nvSpPr>
        <p:spPr>
          <a:xfrm>
            <a:off x="9193463" y="6228850"/>
            <a:ext cx="175200" cy="164100"/>
          </a:xfrm>
          <a:prstGeom prst="ellipse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5"/>
          <p:cNvSpPr/>
          <p:nvPr/>
        </p:nvSpPr>
        <p:spPr>
          <a:xfrm>
            <a:off x="8959275" y="6228838"/>
            <a:ext cx="175200" cy="164100"/>
          </a:xfrm>
          <a:prstGeom prst="ellipse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5"/>
          <p:cNvSpPr/>
          <p:nvPr/>
        </p:nvSpPr>
        <p:spPr>
          <a:xfrm>
            <a:off x="8725075" y="6228850"/>
            <a:ext cx="175200" cy="164100"/>
          </a:xfrm>
          <a:prstGeom prst="ellipse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2683225" y="1484575"/>
            <a:ext cx="2608500" cy="5130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Setup VM</a:t>
            </a:r>
            <a:endParaRPr b="1" sz="19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5694450" y="1659025"/>
            <a:ext cx="175200" cy="164100"/>
          </a:xfrm>
          <a:prstGeom prst="ellipse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5941850" y="1659025"/>
            <a:ext cx="175200" cy="164100"/>
          </a:xfrm>
          <a:prstGeom prst="ellipse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2405525" y="1659025"/>
            <a:ext cx="604500" cy="164100"/>
          </a:xfrm>
          <a:prstGeom prst="rect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7679775" y="5193675"/>
            <a:ext cx="1309200" cy="286200"/>
          </a:xfrm>
          <a:prstGeom prst="rect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8140025" y="5042175"/>
            <a:ext cx="2433000" cy="5892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controllo WD</a:t>
            </a:r>
            <a:endParaRPr b="1" sz="19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10121100" y="3327750"/>
            <a:ext cx="927900" cy="286200"/>
          </a:xfrm>
          <a:prstGeom prst="rect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10748700" y="3327750"/>
            <a:ext cx="300300" cy="1428900"/>
          </a:xfrm>
          <a:prstGeom prst="rect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9164175" y="4470450"/>
            <a:ext cx="1884900" cy="286200"/>
          </a:xfrm>
          <a:prstGeom prst="rect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9164175" y="4470450"/>
            <a:ext cx="300300" cy="679500"/>
          </a:xfrm>
          <a:prstGeom prst="rect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 txBox="1"/>
          <p:nvPr/>
        </p:nvSpPr>
        <p:spPr>
          <a:xfrm>
            <a:off x="326550" y="2491875"/>
            <a:ext cx="260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Per ogni operazione:</a:t>
            </a:r>
            <a:endParaRPr sz="1500">
              <a:solidFill>
                <a:schemeClr val="dk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502150" y="3346950"/>
            <a:ext cx="175200" cy="164100"/>
          </a:xfrm>
          <a:prstGeom prst="ellipse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10652175" y="5254725"/>
            <a:ext cx="175200" cy="164100"/>
          </a:xfrm>
          <a:prstGeom prst="ellipse">
            <a:avLst/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25" title="Salto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1950" y="4314602"/>
            <a:ext cx="795575" cy="835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26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6"/>
          <p:cNvSpPr/>
          <p:nvPr/>
        </p:nvSpPr>
        <p:spPr>
          <a:xfrm>
            <a:off x="301475" y="2651850"/>
            <a:ext cx="11431500" cy="263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  <a:effectLst>
            <a:outerShdw blurRad="1014413" rotWithShape="0" algn="bl" dir="6060000" dist="533400">
              <a:srgbClr val="000000">
                <a:alpha val="2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2" name="Google Shape;38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45010"/>
            <a:ext cx="4671268" cy="2083891"/>
          </a:xfrm>
          <a:prstGeom prst="rect">
            <a:avLst/>
          </a:prstGeom>
          <a:noFill/>
          <a:ln>
            <a:noFill/>
          </a:ln>
          <a:effectLst>
            <a:outerShdw blurRad="257175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descr="image.png" id="383" name="Google Shape;38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8043" y="2839491"/>
            <a:ext cx="6072931" cy="229507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6"/>
          <p:cNvSpPr txBox="1"/>
          <p:nvPr/>
        </p:nvSpPr>
        <p:spPr>
          <a:xfrm>
            <a:off x="581025" y="2209055"/>
            <a:ext cx="1103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G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li errori non vengono visualizzati solo a schermo, ma comunicati direttamente tramite l'hardware per una comprensione immediata:</a:t>
            </a:r>
            <a:endParaRPr/>
          </a:p>
        </p:txBody>
      </p:sp>
      <p:sp>
        <p:nvSpPr>
          <p:cNvPr id="385" name="Google Shape;385;p26"/>
          <p:cNvSpPr txBox="1"/>
          <p:nvPr/>
        </p:nvSpPr>
        <p:spPr>
          <a:xfrm>
            <a:off x="764280" y="3611760"/>
            <a:ext cx="430475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PIN 8 &amp; 10</a:t>
            </a:r>
            <a:endParaRPr/>
          </a:p>
        </p:txBody>
      </p:sp>
      <p:sp>
        <p:nvSpPr>
          <p:cNvPr id="386" name="Google Shape;386;p26"/>
          <p:cNvSpPr txBox="1"/>
          <p:nvPr/>
        </p:nvSpPr>
        <p:spPr>
          <a:xfrm>
            <a:off x="866775" y="4011810"/>
            <a:ext cx="4099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SEGNALAZIONE DIAGNOSTICA</a:t>
            </a:r>
            <a:endParaRPr/>
          </a:p>
        </p:txBody>
      </p:sp>
      <p:sp>
        <p:nvSpPr>
          <p:cNvPr id="387" name="Google Shape;387;p26"/>
          <p:cNvSpPr txBox="1"/>
          <p:nvPr/>
        </p:nvSpPr>
        <p:spPr>
          <a:xfrm>
            <a:off x="723900" y="4240410"/>
            <a:ext cx="409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88" name="Google Shape;388;p26"/>
          <p:cNvGraphicFramePr/>
          <p:nvPr/>
        </p:nvGraphicFramePr>
        <p:xfrm>
          <a:off x="5547568" y="28490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{E8154CF5-CB51-4E89-BA0C-4982523C5BCF}</a:tableStyleId>
              </a:tblPr>
              <a:tblGrid>
                <a:gridCol w="1947275"/>
                <a:gridCol w="1809750"/>
                <a:gridCol w="2296875"/>
              </a:tblGrid>
              <a:tr h="45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FFFFFF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Esempi di </a:t>
                      </a: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Errore Rilevato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1C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Led &amp; Pin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1C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Cinzel"/>
                          <a:ea typeface="Cinzel"/>
                          <a:cs typeface="Cinzel"/>
                          <a:sym typeface="Cinzel"/>
                        </a:rPr>
                        <a:t>Segnale Visivo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C1C2B"/>
                    </a:solidFill>
                  </a:tcPr>
                </a:tc>
              </a:tr>
              <a:tr h="45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Opcode non valido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LED Integrato (Pin 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B45309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1 Blink Lento + Veloci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Registri critici violati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LED Integrato (Pin 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B45309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6 Blink Lenti + Veloci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Errore di memoria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LED Integrato (Pin 8)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B45309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7 Blink Lenti + Veloci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Loop Infinito Rilevato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LED Esterno (Pin 10)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EF4444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Codice Morse "L-O-O-P"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389" name="Google Shape;38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9434" y="329743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6"/>
          <p:cNvSpPr/>
          <p:nvPr/>
        </p:nvSpPr>
        <p:spPr>
          <a:xfrm>
            <a:off x="5547568" y="3766095"/>
            <a:ext cx="19472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7494835" y="3766095"/>
            <a:ext cx="18097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6"/>
          <p:cNvSpPr/>
          <p:nvPr/>
        </p:nvSpPr>
        <p:spPr>
          <a:xfrm>
            <a:off x="9304585" y="3766095"/>
            <a:ext cx="22968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5547568" y="4217491"/>
            <a:ext cx="19472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7494835" y="4217491"/>
            <a:ext cx="18097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9304585" y="4217491"/>
            <a:ext cx="22968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5547568" y="4668887"/>
            <a:ext cx="19472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7494835" y="4668887"/>
            <a:ext cx="18097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9304585" y="4668887"/>
            <a:ext cx="22968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"/>
          <p:cNvSpPr txBox="1"/>
          <p:nvPr/>
        </p:nvSpPr>
        <p:spPr>
          <a:xfrm>
            <a:off x="723900" y="485775"/>
            <a:ext cx="1143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FEEDBACK DIAGNOSTICO</a:t>
            </a: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581025" y="485775"/>
            <a:ext cx="47625" cy="457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26" title="sapienza-university-of-rome-vector-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27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81100"/>
            <a:ext cx="5372100" cy="498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181100"/>
            <a:ext cx="5372100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7"/>
          <p:cNvSpPr txBox="1"/>
          <p:nvPr/>
        </p:nvSpPr>
        <p:spPr>
          <a:xfrm>
            <a:off x="1152525" y="1504950"/>
            <a:ext cx="47405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1. Scrittura e Modifica Assembly</a:t>
            </a:r>
            <a:endParaRPr/>
          </a:p>
        </p:txBody>
      </p:sp>
      <p:sp>
        <p:nvSpPr>
          <p:cNvPr id="410" name="Google Shape;410;p27"/>
          <p:cNvSpPr txBox="1"/>
          <p:nvPr/>
        </p:nvSpPr>
        <p:spPr>
          <a:xfrm>
            <a:off x="866775" y="1905000"/>
            <a:ext cx="48006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Tipologia 1 &amp; 2: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Gli studenti scrivono programmi completi (es. calcolare max/min di vettori) per attivare specifici LED sul microcontrollore per un tempo prestabilito passati sui registri </a:t>
            </a:r>
            <a:r>
              <a:rPr b="0" i="0" lang="en-US" sz="1125" u="none" cap="none" strike="noStrike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a0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 </a:t>
            </a:r>
            <a:r>
              <a:rPr b="0" i="0" lang="en-US" sz="1125" u="none" cap="none" strike="noStrike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a1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411" name="Google Shape;411;p27"/>
          <p:cNvSpPr txBox="1"/>
          <p:nvPr/>
        </p:nvSpPr>
        <p:spPr>
          <a:xfrm>
            <a:off x="866775" y="3328988"/>
            <a:ext cx="48006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GUI consente di testare istantaneamente il codice assembly, verificandone il comportamento dal vivo direttamente sulla scheda fisica.</a:t>
            </a:r>
            <a:endParaRPr b="1" sz="1900"/>
          </a:p>
        </p:txBody>
      </p:sp>
      <p:sp>
        <p:nvSpPr>
          <p:cNvPr id="412" name="Google Shape;412;p27"/>
          <p:cNvSpPr txBox="1"/>
          <p:nvPr/>
        </p:nvSpPr>
        <p:spPr>
          <a:xfrm>
            <a:off x="6810375" y="1504950"/>
            <a:ext cx="47405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2. Debug ed Esercitazioni Byte-Level</a:t>
            </a:r>
            <a:endParaRPr/>
          </a:p>
        </p:txBody>
      </p:sp>
      <p:sp>
        <p:nvSpPr>
          <p:cNvPr id="413" name="Google Shape;413;p27"/>
          <p:cNvSpPr txBox="1"/>
          <p:nvPr/>
        </p:nvSpPr>
        <p:spPr>
          <a:xfrm>
            <a:off x="6524625" y="1905000"/>
            <a:ext cx="48006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Tipologia 3 (Loop):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Modificare in modo minimale un diagramma di flussi aggrovigliato riducendo i salti </a:t>
            </a:r>
            <a:r>
              <a:rPr b="0" i="0" lang="en-US" sz="1125" u="none" cap="none" strike="noStrike">
                <a:solidFill>
                  <a:srgbClr val="7C1C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 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rimuovere 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loop infinito in un numero massimo prefissato di mosse.</a:t>
            </a:r>
            <a:endParaRPr/>
          </a:p>
        </p:txBody>
      </p:sp>
      <p:sp>
        <p:nvSpPr>
          <p:cNvPr id="414" name="Google Shape;414;p27"/>
          <p:cNvSpPr txBox="1"/>
          <p:nvPr/>
        </p:nvSpPr>
        <p:spPr>
          <a:xfrm>
            <a:off x="6524625" y="3259738"/>
            <a:ext cx="48006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Tipologia 4 (Esadecimale):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 studente opera su codice compilato Little-Endian agendo byte per byte in formato esadecimale, correggendo gli errori rilevati on-board.</a:t>
            </a:r>
            <a:endParaRPr/>
          </a:p>
        </p:txBody>
      </p:sp>
      <p:pic>
        <p:nvPicPr>
          <p:cNvPr descr="image.png" id="415" name="Google Shape;41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15382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15382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7"/>
          <p:cNvSpPr txBox="1"/>
          <p:nvPr/>
        </p:nvSpPr>
        <p:spPr>
          <a:xfrm>
            <a:off x="723900" y="485775"/>
            <a:ext cx="1143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esercizi tipo</a:t>
            </a: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581025" y="485775"/>
            <a:ext cx="47625" cy="4572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9" name="Google Shape;419;p27" title="sapienza-university-of-rome-vector-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28" title="photo-1555589228-5dc844368071.jpg"/>
          <p:cNvPicPr preferRelativeResize="0"/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81100"/>
            <a:ext cx="4883646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8"/>
          <p:cNvSpPr txBox="1"/>
          <p:nvPr/>
        </p:nvSpPr>
        <p:spPr>
          <a:xfrm>
            <a:off x="1152525" y="1504950"/>
            <a:ext cx="422771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Traccia dell'Esercizio</a:t>
            </a:r>
            <a:endParaRPr/>
          </a:p>
        </p:txBody>
      </p:sp>
      <p:sp>
        <p:nvSpPr>
          <p:cNvPr id="427" name="Google Shape;427;p28"/>
          <p:cNvSpPr txBox="1"/>
          <p:nvPr/>
        </p:nvSpPr>
        <p:spPr>
          <a:xfrm>
            <a:off x="866775" y="1905000"/>
            <a:ext cx="431214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Scrivere un programma che, dato un vettore di word in .data, trovi il valore minimo </a:t>
            </a:r>
            <a:r>
              <a:rPr b="0" i="1" lang="en-US" sz="1125" u="none" cap="none" strike="noStrike">
                <a:solidFill>
                  <a:srgbClr val="47556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y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ed accenda il LED corrispondente al valore massimo per un tempo totale pari a:</a:t>
            </a:r>
            <a:endParaRPr/>
          </a:p>
        </p:txBody>
      </p:sp>
      <p:pic>
        <p:nvPicPr>
          <p:cNvPr descr="image.png" id="428" name="Google Shape;42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743200"/>
            <a:ext cx="4312146" cy="46479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8"/>
          <p:cNvSpPr txBox="1"/>
          <p:nvPr/>
        </p:nvSpPr>
        <p:spPr>
          <a:xfrm>
            <a:off x="866775" y="3350865"/>
            <a:ext cx="43122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L'output deve impostare la maschera in a1 ed il tempo in a0 prima di saltare all'etichetta di </a:t>
            </a:r>
            <a:r>
              <a:rPr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“END”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pic>
        <p:nvPicPr>
          <p:cNvPr descr="image.png" id="430" name="Google Shape;43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5382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8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ESEMPIO PRATICO: TIPOLOGIA 1</a:t>
            </a: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581025" y="485775"/>
            <a:ext cx="47625" cy="457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28" title="sapienza-university-of-rome-vector-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1750" y="1188050"/>
            <a:ext cx="5313000" cy="498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8" title="Immagine 2026-07-09 19572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45525" y="1403176"/>
            <a:ext cx="5265451" cy="2335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8" title="Immagine 2026-07-09 195746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45525" y="3676900"/>
            <a:ext cx="5265451" cy="212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29" title="photo-1555589228-5dc844368071.jpg"/>
          <p:cNvPicPr preferRelativeResize="0"/>
          <p:nvPr/>
        </p:nvPicPr>
        <p:blipFill>
          <a:blip r:embed="rId3">
            <a:alphaModFix amt="0"/>
          </a:blip>
          <a:stretch>
            <a:fillRect/>
          </a:stretch>
        </p:blipFill>
        <p:spPr>
          <a:xfrm>
            <a:off x="0" y="-418875"/>
            <a:ext cx="12296151" cy="81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81100"/>
            <a:ext cx="5372101" cy="530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9"/>
          <p:cNvSpPr txBox="1"/>
          <p:nvPr/>
        </p:nvSpPr>
        <p:spPr>
          <a:xfrm>
            <a:off x="1152525" y="1504950"/>
            <a:ext cx="474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Difficoltà Tecniche </a:t>
            </a:r>
            <a:r>
              <a:rPr b="1" lang="en-US" sz="1500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Affrontate</a:t>
            </a:r>
            <a:endParaRPr/>
          </a:p>
        </p:txBody>
      </p:sp>
      <p:sp>
        <p:nvSpPr>
          <p:cNvPr id="444" name="Google Shape;444;p29"/>
          <p:cNvSpPr txBox="1"/>
          <p:nvPr/>
        </p:nvSpPr>
        <p:spPr>
          <a:xfrm>
            <a:off x="866775" y="1905000"/>
            <a:ext cx="4800600" cy="23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Char char="-"/>
            </a:pPr>
            <a:r>
              <a:rPr b="1" i="0" lang="en-US" sz="16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Gestione </a:t>
            </a:r>
            <a:r>
              <a:rPr b="1" lang="en-US" sz="16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LED </a:t>
            </a:r>
            <a:r>
              <a:rPr b="1" i="0" lang="en-US" sz="16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 Assembly:</a:t>
            </a:r>
            <a:r>
              <a:rPr b="0" i="0" lang="en-US" sz="12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1425" u="none" cap="none" strike="noStrike">
                <a:solidFill>
                  <a:srgbClr val="801F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gestione precisa della temporizzazione dell'accensione dei LED direttamente a basso livello (Assembly) </a:t>
            </a:r>
            <a:r>
              <a:rPr b="1" i="0" lang="en-US" sz="14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</a:t>
            </a:r>
            <a:r>
              <a:rPr b="1" i="0" lang="en-US" sz="1425" u="none" cap="none" strike="noStrike">
                <a:solidFill>
                  <a:srgbClr val="801F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isultava instabile.</a:t>
            </a:r>
            <a:endParaRPr b="1" i="0" sz="1425" u="none" cap="none" strike="noStrike">
              <a:solidFill>
                <a:srgbClr val="801F1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1" lang="en-US" sz="1425" u="none" cap="none" strike="noStrike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È stato implementato un approccio ibrido, </a:t>
            </a:r>
            <a:r>
              <a:rPr b="1" i="1" lang="en-US" sz="1425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spostando </a:t>
            </a:r>
            <a:r>
              <a:rPr b="1" i="1" lang="en-US" sz="1425" u="none" cap="none" strike="noStrike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1" lang="en-US" sz="1425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tutta la gestione dei led </a:t>
            </a:r>
            <a:r>
              <a:rPr b="1" i="1" lang="en-US" sz="1425" u="none" cap="none" strike="noStrike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allo strato superficiale in C++ (validator.ino).</a:t>
            </a:r>
            <a:endParaRPr b="1" i="1" sz="1700">
              <a:solidFill>
                <a:srgbClr val="38761D"/>
              </a:solidFill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866775" y="4364225"/>
            <a:ext cx="4800600" cy="16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0038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25"/>
              <a:buFont typeface="Plus Jakarta Sans"/>
              <a:buChar char="-"/>
            </a:pPr>
            <a:r>
              <a:rPr b="1" i="0" lang="en-US" sz="16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Gestione del dynamic link: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1425" u="none" cap="none" strike="noStrike">
                <a:solidFill>
                  <a:srgbClr val="801F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Il caricamento dinamico della RAM necessitava di puntatori complessi</a:t>
            </a:r>
            <a:endParaRPr b="1" sz="1425">
              <a:solidFill>
                <a:srgbClr val="801F1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L’ho </a:t>
            </a:r>
            <a:r>
              <a:rPr b="1" i="0" lang="en-US" sz="1425" u="none" cap="none" strike="noStrike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superato grazie al flashing rapido dell'intero progetto via Arduino CLI.</a:t>
            </a:r>
            <a:endParaRPr b="1" sz="1700">
              <a:solidFill>
                <a:srgbClr val="38761D"/>
              </a:solidFill>
            </a:endParaRPr>
          </a:p>
        </p:txBody>
      </p:sp>
      <p:pic>
        <p:nvPicPr>
          <p:cNvPr descr="image.png" id="446" name="Google Shape;44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15382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9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LIMITI E SVILUPPI FUTURI</a:t>
            </a:r>
            <a:endParaRPr/>
          </a:p>
        </p:txBody>
      </p:sp>
      <p:sp>
        <p:nvSpPr>
          <p:cNvPr id="448" name="Google Shape;448;p29"/>
          <p:cNvSpPr/>
          <p:nvPr/>
        </p:nvSpPr>
        <p:spPr>
          <a:xfrm>
            <a:off x="581025" y="485775"/>
            <a:ext cx="47625" cy="457200"/>
          </a:xfrm>
          <a:prstGeom prst="rect">
            <a:avLst/>
          </a:prstGeom>
          <a:solidFill>
            <a:srgbClr val="2012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29" title="sapienza-university-of-rome-vector-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9" title="ESP32-C3-SuperMini-removebg-preview.png"/>
          <p:cNvPicPr preferRelativeResize="0"/>
          <p:nvPr/>
        </p:nvPicPr>
        <p:blipFill rotWithShape="1">
          <a:blip r:embed="rId7">
            <a:alphaModFix amt="12000"/>
          </a:blip>
          <a:srcRect b="0" l="-1310" r="1310" t="0"/>
          <a:stretch/>
        </p:blipFill>
        <p:spPr>
          <a:xfrm>
            <a:off x="5833275" y="361775"/>
            <a:ext cx="5372100" cy="649622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9"/>
          <p:cNvSpPr txBox="1"/>
          <p:nvPr/>
        </p:nvSpPr>
        <p:spPr>
          <a:xfrm>
            <a:off x="6838950" y="1504950"/>
            <a:ext cx="471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C1C2B"/>
                </a:solidFill>
                <a:latin typeface="Cinzel"/>
                <a:ea typeface="Cinzel"/>
                <a:cs typeface="Cinzel"/>
                <a:sym typeface="Cinzel"/>
              </a:rPr>
              <a:t>Sviluppi e Miglioramenti Futuri</a:t>
            </a:r>
            <a:endParaRPr/>
          </a:p>
        </p:txBody>
      </p:sp>
      <p:pic>
        <p:nvPicPr>
          <p:cNvPr descr="image.png" id="452" name="Google Shape;452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153828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9"/>
          <p:cNvSpPr txBox="1"/>
          <p:nvPr/>
        </p:nvSpPr>
        <p:spPr>
          <a:xfrm>
            <a:off x="6337800" y="2063750"/>
            <a:ext cx="4457100" cy="1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Supporto alla Sezione .data:</a:t>
            </a:r>
            <a:r>
              <a:rPr b="0" i="0" lang="en-US" sz="15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Integrare l'analisi e la virtualizzazione </a:t>
            </a:r>
            <a:r>
              <a:rPr lang="en-US" sz="15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</a:t>
            </a:r>
            <a:r>
              <a:rPr b="0" i="0" lang="en-US" sz="15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ella sezione </a:t>
            </a:r>
            <a:r>
              <a:rPr lang="en-US" sz="15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.data </a:t>
            </a:r>
            <a:r>
              <a:rPr b="0" i="0" lang="en-US" sz="15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nella</a:t>
            </a:r>
            <a:r>
              <a:rPr lang="en-US" sz="15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5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macchina virtuale, consentendo </a:t>
            </a:r>
            <a:r>
              <a:rPr lang="en-US" sz="15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</a:t>
            </a:r>
            <a:r>
              <a:rPr b="0" i="0" lang="en-US" sz="15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simulazione nativa on-chip anche per codice che ricorre a variabili globali caricate dalla RAM.</a:t>
            </a:r>
            <a:endParaRPr sz="1800"/>
          </a:p>
        </p:txBody>
      </p:sp>
      <p:pic>
        <p:nvPicPr>
          <p:cNvPr id="454" name="Google Shape;454;p29" title="2fc7ae80-8e1e-11ea-9908-085b37c4d1d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81599" y="5691675"/>
            <a:ext cx="682476" cy="457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1C2B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9" name="Google Shape;45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6955" y="3587948"/>
            <a:ext cx="6617940" cy="152965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0"/>
          <p:cNvSpPr txBox="1"/>
          <p:nvPr/>
        </p:nvSpPr>
        <p:spPr>
          <a:xfrm>
            <a:off x="1369126" y="1740705"/>
            <a:ext cx="945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Cinzel ExtraBold"/>
                <a:ea typeface="Cinzel ExtraBold"/>
                <a:cs typeface="Cinzel ExtraBold"/>
                <a:sym typeface="Cinzel ExtraBold"/>
              </a:rPr>
              <a:t>Grazie per l'Attenzione!</a:t>
            </a:r>
            <a:endParaRPr/>
          </a:p>
        </p:txBody>
      </p:sp>
      <p:sp>
        <p:nvSpPr>
          <p:cNvPr id="461" name="Google Shape;461;p30"/>
          <p:cNvSpPr txBox="1"/>
          <p:nvPr/>
        </p:nvSpPr>
        <p:spPr>
          <a:xfrm>
            <a:off x="3177480" y="3835598"/>
            <a:ext cx="583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Carlo Da Roma (daromacarlo@gmail.com)</a:t>
            </a:r>
            <a:endParaRPr/>
          </a:p>
        </p:txBody>
      </p:sp>
      <p:pic>
        <p:nvPicPr>
          <p:cNvPr descr="image.png" id="462" name="Google Shape;46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3276" y="4536578"/>
            <a:ext cx="2000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0"/>
          <p:cNvSpPr txBox="1"/>
          <p:nvPr/>
        </p:nvSpPr>
        <p:spPr>
          <a:xfrm>
            <a:off x="4572000" y="4548950"/>
            <a:ext cx="330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github.com/daromacarlo/RISC-Visore</a:t>
            </a:r>
            <a:endParaRPr/>
          </a:p>
        </p:txBody>
      </p:sp>
      <p:pic>
        <p:nvPicPr>
          <p:cNvPr id="464" name="Google Shape;464;p30" title="sapienza-university-of-rome-vector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72800" y="0"/>
            <a:ext cx="1042600" cy="10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